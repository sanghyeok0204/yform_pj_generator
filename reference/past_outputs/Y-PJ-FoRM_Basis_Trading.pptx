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26296" cy="6126480"/>
          </a:xfrm>
          <a:prstGeom prst="rect">
            <a:avLst/>
          </a:prstGeom>
        </p:spPr>
      </p:pic>
      <p:pic>
        <p:nvPicPr>
          <p:cNvPr id="3" name="Picture 2" descr="cover_her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296" y="6126480"/>
            <a:ext cx="2962656" cy="73152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" y="2660904"/>
            <a:ext cx="11576304" cy="22128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46888" y="2660904"/>
            <a:ext cx="11576304" cy="22128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 spc="-80">
                <a:solidFill>
                  <a:srgbClr val="122B46"/>
                </a:solidFill>
                <a:latin typeface="Pretendard ExtraBold"/>
                <a:ea typeface="Pretendard ExtraBold"/>
              </a:rPr>
              <a:t>Basis Trading</a:t>
            </a:r>
          </a:p>
          <a:p>
            <a:pPr algn="ctr"/>
            <a:r>
              <a:rPr sz="4000" b="1" i="0" spc="-80">
                <a:solidFill>
                  <a:srgbClr val="122B46"/>
                </a:solidFill>
                <a:latin typeface="Pretendard ExtraBold"/>
                <a:ea typeface="Pretendard ExtraBold"/>
              </a:rPr>
              <a:t>on KTB Futures</a:t>
            </a:r>
          </a:p>
          <a:p>
            <a:pPr algn="ctr"/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 </a:t>
            </a:r>
          </a:p>
          <a:p>
            <a:pPr algn="ctr"/>
            <a:r>
              <a:rPr sz="1800" b="1" i="0">
                <a:solidFill>
                  <a:srgbClr val="7A7A7A"/>
                </a:solidFill>
                <a:latin typeface="Pretendard SemiBold"/>
                <a:ea typeface="Pretendard SemiBold"/>
              </a:rPr>
              <a:t>Position Construction · CTD ·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9226296" cy="731520"/>
          </a:xfrm>
          <a:prstGeom prst="rect">
            <a:avLst/>
          </a:prstGeom>
          <a:solidFill>
            <a:srgbClr val="12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860450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9D3E0"/>
                </a:solidFill>
                <a:latin typeface="Pretendard SemiBold"/>
                <a:ea typeface="Pretendard SemiBold"/>
              </a:rPr>
              <a:t>PRESENTER   </a:t>
            </a:r>
            <a:r>
              <a:rPr sz="2000" b="1" i="0">
                <a:solidFill>
                  <a:srgbClr val="FFFFFF"/>
                </a:solidFill>
                <a:latin typeface="Pretendard SemiBold"/>
                <a:ea typeface="Pretendard SemiBold"/>
              </a:rPr>
              <a:t>박상혁</a:t>
            </a:r>
            <a:r>
              <a:rPr sz="1400" b="0" i="0">
                <a:solidFill>
                  <a:srgbClr val="C9D3E0"/>
                </a:solidFill>
                <a:latin typeface="Pretendard"/>
                <a:ea typeface="Pretendard"/>
              </a:rPr>
              <a:t>      Y-PJ-FoRM 39th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464" y="100584"/>
            <a:ext cx="4123944" cy="8595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5000" b="1" i="0" spc="-100">
                <a:solidFill>
                  <a:srgbClr val="122B46"/>
                </a:solidFill>
                <a:latin typeface="Pretendard ExtraBold"/>
                <a:ea typeface="Pretendard ExtraBold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128016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12801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Position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15910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Long-basis vs short-basis arbitrage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9" y="12801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Hedging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15910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Duration-matched cash-side offset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" y="2215591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215591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Convergence at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526487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Realising the locked-in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15591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215591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CTD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526487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Why one bond, not the basket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" y="315102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15102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Conversion Factor &amp; 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46191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The mechanics of choosing the CTD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15102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315102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CTD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46191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Worked example: KTB3F2512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" y="4086453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086453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Threshold &amp;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397349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Slippage, fees, and the entry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86453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56">
                <a:solidFill>
                  <a:srgbClr val="C00000"/>
                </a:solidFill>
                <a:latin typeface="Pretendard ExtraBold"/>
                <a:ea typeface="Pretendard ExtraBold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4086453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Funding Cost Asymmetry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397349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Why short-basis costs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01. Position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이론가 대비 실제 선물 가격에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베이시스 괴리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가 발생하면, 선물과 현물을 반대 포지션으로 잡아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무차익거래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를 시도한다. 포지션의 방향에 따라 다음 두 유형으로 구분된다.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1920240"/>
            <a:ext cx="5394959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4048" y="2194560"/>
            <a:ext cx="1417320" cy="329184"/>
          </a:xfrm>
          <a:prstGeom prst="roundRect">
            <a:avLst>
              <a:gd name="adj" fmla="val 5000"/>
            </a:avLst>
          </a:prstGeom>
          <a:solidFill>
            <a:srgbClr val="12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219456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</a:rPr>
              <a:t>LONG 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63347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400" b="1" i="0" spc="-24">
                <a:solidFill>
                  <a:srgbClr val="122B46"/>
                </a:solidFill>
                <a:latin typeface="Pretendard SemiBold"/>
                <a:ea typeface="Pretendard SemiBold"/>
              </a:rPr>
              <a:t>매수차익거래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200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Pretendard SemiBold"/>
                <a:ea typeface="Pretendard SemiBold"/>
              </a:rPr>
              <a:t>선물 매도  +  현물 매수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 가격이 이론가보다 </a:t>
            </a:r>
            <a:r>
              <a:rPr sz="1600" b="1" i="0">
                <a:solidFill>
                  <a:srgbClr val="122B46"/>
                </a:solidFill>
                <a:latin typeface="Pretendard SemiBold"/>
                <a:ea typeface="Pretendard SemiBold"/>
              </a:rPr>
              <a:t>높을 때</a:t>
            </a: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, 고평가된 선물을 매도하고</a:t>
            </a:r>
          </a:p>
          <a:p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헷징 자산으로 현물을 매수하여 포지션을 구축한다.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800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7A7A7A"/>
                </a:solidFill>
                <a:latin typeface="Pretendard SemiBold"/>
                <a:ea typeface="Pretendard SemiBold"/>
              </a:rPr>
              <a:t>Trigger</a:t>
            </a:r>
          </a:p>
          <a:p>
            <a:r>
              <a:rPr sz="1400" b="0" i="0">
                <a:solidFill>
                  <a:srgbClr val="122B46"/>
                </a:solidFill>
                <a:latin typeface="Pretendard"/>
                <a:ea typeface="Pretendard"/>
              </a:rPr>
              <a:t>Futures price &gt; Theoretical fair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9007" y="1920240"/>
            <a:ext cx="5394959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053327" y="2194560"/>
            <a:ext cx="1508760" cy="329184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53327" y="219456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</a:rPr>
              <a:t>SHORT 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7" y="263347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400" b="1" i="0" spc="-24">
                <a:solidFill>
                  <a:srgbClr val="122B46"/>
                </a:solidFill>
                <a:latin typeface="Pretendard SemiBold"/>
                <a:ea typeface="Pretendard SemiBold"/>
              </a:rPr>
              <a:t>매도차익거래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7" y="3200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Pretendard SemiBold"/>
                <a:ea typeface="Pretendard SemiBold"/>
              </a:rPr>
              <a:t>선물 매수  +  현물 매도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 가격이 이론가보다 </a:t>
            </a:r>
            <a:r>
              <a:rPr sz="1600" b="1" i="0">
                <a:solidFill>
                  <a:srgbClr val="122B46"/>
                </a:solidFill>
                <a:latin typeface="Pretendard SemiBold"/>
                <a:ea typeface="Pretendard SemiBold"/>
              </a:rPr>
              <a:t>낮을 때</a:t>
            </a: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, 저평가된 선물을 매수하고</a:t>
            </a:r>
          </a:p>
          <a:p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헷징 자산으로 현물을 매도하여 포지션을 구축한다.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48006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7A7A7A"/>
                </a:solidFill>
                <a:latin typeface="Pretendard SemiBold"/>
                <a:ea typeface="Pretendard SemiBold"/>
              </a:rPr>
              <a:t>Trigger</a:t>
            </a:r>
          </a:p>
          <a:p>
            <a:r>
              <a:rPr sz="1400" b="0" i="0">
                <a:solidFill>
                  <a:srgbClr val="122B46"/>
                </a:solidFill>
                <a:latin typeface="Pretendard"/>
                <a:ea typeface="Pretendard"/>
              </a:rPr>
              <a:t>Futures price &lt; Theoretical fair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02. Hedging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현물을 선물의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반대 포지션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으로 잡는 이유는 단순한 롱·숏 전략이 아니라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선물 포지션에 대한 헷징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이기 때문이다. 국채선물의 기초자산은 바스켓 채권이므로 금리 변동 방향이 동일하며,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듀레이션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을 고려해 가격 변동폭을 일치시키면 진입 시점의 괴리만큼이 확정 수익이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24231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Worked Example  </a:t>
            </a:r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외인의 매도세로 선물이 이론가보다 먼저 하락한 상황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28346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8328" y="306324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2800" b="1" i="0" spc="-84">
                <a:solidFill>
                  <a:srgbClr val="122B46"/>
                </a:solidFill>
                <a:latin typeface="Pretendard ExtraBold"/>
                <a:ea typeface="Pretendard ExtraBold"/>
              </a:rPr>
              <a:t>KTB3F2512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40233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Underlying futures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3048" y="28346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41648" y="306324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4000" b="1" i="0" spc="-120">
                <a:solidFill>
                  <a:srgbClr val="122B46"/>
                </a:solidFill>
                <a:latin typeface="Pretendard ExtraBold"/>
                <a:ea typeface="Pretendard ExtraBold"/>
              </a:rPr>
              <a:t>65 계약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40233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Futures bought (long)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7" y="28346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44967" y="306324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4000" b="1" i="0" spc="-120">
                <a:solidFill>
                  <a:srgbClr val="C00000"/>
                </a:solidFill>
                <a:latin typeface="Pretendard ExtraBold"/>
                <a:ea typeface="Pretendard ExtraBold"/>
              </a:rPr>
              <a:t>100 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402336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Cash basket sold (short)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475488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B46"/>
                </a:solidFill>
                <a:latin typeface="Pretendard SemiBold"/>
                <a:ea typeface="Pretendard SemiBold"/>
              </a:rPr>
              <a:t>⟶  </a:t>
            </a: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 65계약 매수와 듀레이션 환산 100억 현물 매도가 결합되면, 금리 충격에 대한 가격 변동이 상쇄되어 </a:t>
            </a:r>
            <a:r>
              <a:rPr sz="1600" b="1" i="0">
                <a:solidFill>
                  <a:srgbClr val="122B46"/>
                </a:solidFill>
                <a:latin typeface="Pretendard SemiBold"/>
                <a:ea typeface="Pretendard SemiBold"/>
              </a:rPr>
              <a:t>진입 시 괴리만큼의 수익이 잠긴다</a:t>
            </a:r>
            <a:r>
              <a:rPr sz="16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03. Convergence at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포지션을 만기까지 보유하면 선물은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이론가로 수렴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한다. 보유 기간 동안 선물·현물의 가격 변동이 서로를 상쇄해 순 변동이 0에 가까워지고, 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만기 청산 시 현금 입찰을 통해 진입 시점의 차익이 그대로 정산된다.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224028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200" b="1" i="0" spc="-44">
                <a:solidFill>
                  <a:srgbClr val="C00000"/>
                </a:solidFill>
                <a:latin typeface="Pretendard ExtraBold"/>
                <a:ea typeface="Pretendard Extra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4028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B46"/>
                </a:solidFill>
                <a:latin typeface="Pretendard SemiBold"/>
                <a:ea typeface="Pretendard SemiBold"/>
              </a:rPr>
              <a:t>보유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24328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 가격 변동과 현물 가격 변동이 서로 상쇄되어 평가손익은 ±0 부근에서 머무른다.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338328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200" b="1" i="0" spc="-44">
                <a:solidFill>
                  <a:srgbClr val="C00000"/>
                </a:solidFill>
                <a:latin typeface="Pretendard ExtraBold"/>
                <a:ea typeface="Pretendard Extra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8328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B46"/>
                </a:solidFill>
                <a:latin typeface="Pretendard SemiBold"/>
                <a:ea typeface="Pretendard SemiBold"/>
              </a:rPr>
              <a:t>만기 직전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767328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선물의 시장가는 이론가에 수렴하고, 진입 시점의 괴리가 그대로 ‘잠긴 차익’으로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452628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200" b="1" i="0" spc="-44">
                <a:solidFill>
                  <a:srgbClr val="C00000"/>
                </a:solidFill>
                <a:latin typeface="Pretendard ExtraBold"/>
                <a:ea typeface="Pretendard Extra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52628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B46"/>
                </a:solidFill>
                <a:latin typeface="Pretendard SemiBold"/>
                <a:ea typeface="Pretendard SemiBold"/>
              </a:rPr>
              <a:t>만기 청산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10328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현금 입찰(Cash Settlement)을 통해 진입 시 괴리만큼의 차익을 확정 수익으로 정산받는다.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2240280"/>
            <a:ext cx="4846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56248" y="2423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Price Path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01968" y="4617720"/>
            <a:ext cx="429768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01968" y="3383280"/>
            <a:ext cx="4297680" cy="0"/>
          </a:xfrm>
          <a:prstGeom prst="line">
            <a:avLst/>
          </a:prstGeom>
          <a:ln w="25400">
            <a:solidFill>
              <a:srgbClr val="12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01968" y="3794760"/>
            <a:ext cx="2363724" cy="32004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65692" y="3383280"/>
            <a:ext cx="1933956" cy="4114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826496" y="3310128"/>
            <a:ext cx="146304" cy="146304"/>
          </a:xfrm>
          <a:prstGeom prst="ellipse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7" y="3108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22B46"/>
                </a:solidFill>
                <a:latin typeface="Pretendard SemiBold"/>
                <a:ea typeface="Pretendard SemiBold"/>
              </a:rPr>
              <a:t>Theoretical (이론가)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42062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00000"/>
                </a:solidFill>
                <a:latin typeface="Pretendard SemiBold"/>
                <a:ea typeface="Pretendard SemiBold"/>
              </a:rPr>
              <a:t>Futures market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7091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7091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Maturity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51206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2B46"/>
                </a:solidFill>
                <a:latin typeface="Pretendard SemiBold"/>
                <a:ea typeface="Pretendard SemiBold"/>
              </a:rPr>
              <a:t>괴리 = 진입 시 잠긴 차익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04. CTD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선물을 헷징할 현물 자산을 선택할 때, 바스켓 전체를 매수하는 방법과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단 하나의 채권만 사용하는 방법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 있다. 본 프로젝트에서 채택하는 전략은 후자이며, 그 핵심이 </a:t>
            </a:r>
            <a:r>
              <a:rPr sz="2000" b="1" i="0">
                <a:solidFill>
                  <a:srgbClr val="C00000"/>
                </a:solidFill>
                <a:latin typeface="Pretendard SemiBold"/>
                <a:ea typeface="Pretendard SemiBold"/>
              </a:rPr>
              <a:t>CTD (Cheapest-to-Deliver)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228600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92608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2331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Mechanic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331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Cost / Operational Profile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2788920"/>
            <a:ext cx="11064239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608" y="2926079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22B46"/>
                </a:solidFill>
                <a:latin typeface="Pretendard SemiBold"/>
                <a:ea typeface="Pretendard SemiBold"/>
              </a:rPr>
              <a:t>Basket-wide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바스켓 전 종목 매수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926079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 가격을 산정하는 모든 바스켓 채권을 동시에 보유해 헷징한다.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926079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이론적으로 </a:t>
            </a:r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정확한 헷징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, 그러나 종목 수만큼 </a:t>
            </a:r>
            <a:r>
              <a:rPr sz="1500" b="1" i="0">
                <a:solidFill>
                  <a:srgbClr val="C00000"/>
                </a:solidFill>
                <a:latin typeface="Pretendard SemiBold"/>
                <a:ea typeface="Pretendard SemiBold"/>
              </a:rPr>
              <a:t>조달비용·대차수수료가 가산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되어 진입 비용이 크다.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" y="4023360"/>
            <a:ext cx="110642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9728" y="4069080"/>
            <a:ext cx="11064240" cy="1143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2608" y="416052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Pretendard SemiBold"/>
                <a:ea typeface="Pretendard SemiBold"/>
              </a:rPr>
              <a:t>CTD only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최저 비용 채권 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416052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조달비용을 고려해 가장 저렴한 1개 채권을 골라 단독으로 헷징한다.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16052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이론적 헷징은 불완전하지만 </a:t>
            </a:r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조달비용 최소화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, 실무 수렴성 덕분에 시장가가 CTD 변동에 가중되어 움직이는 경향.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54864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7A7A7A"/>
                </a:solidFill>
                <a:latin typeface="Pretendard SemiBold"/>
                <a:ea typeface="Pretendard SemiBold"/>
              </a:rPr>
              <a:t>Note  </a:t>
            </a:r>
            <a:r>
              <a:rPr sz="1100" b="0" i="0">
                <a:solidFill>
                  <a:srgbClr val="7A7A7A"/>
                </a:solidFill>
                <a:latin typeface="Pretendard"/>
                <a:ea typeface="Pretendard"/>
              </a:rPr>
              <a:t>리서치에 따르면 실무에서는 CTD 단독 헷징이 광범위하게 사용된다.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05. Conversion Factor &amp; IRR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CTD를 식별하기 위해 다음 세 개념이 필요하다.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IRR이 가장 높은 채권이 곧 CTD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2011680"/>
            <a:ext cx="35356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4048" y="228600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697480"/>
            <a:ext cx="2987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600" b="1" i="0" spc="-26">
                <a:solidFill>
                  <a:srgbClr val="122B46"/>
                </a:solidFill>
                <a:latin typeface="Pretendard SemiBold"/>
                <a:ea typeface="Pretendard SemiBold"/>
              </a:rPr>
              <a:t>전환계수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29184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Conversion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703320"/>
            <a:ext cx="29870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만기 시 청산을 위해 바스켓 채권 일부를 인도할 때, 각 채권의 쿠폰·잔존만기 차이를 보정해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상대가치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를 일치시키는 비율.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4008" y="2011680"/>
            <a:ext cx="35356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48328" y="228600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8328" y="2697480"/>
            <a:ext cx="2987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600" b="1" i="0" spc="-26">
                <a:solidFill>
                  <a:srgbClr val="122B46"/>
                </a:solidFill>
                <a:latin typeface="Pretendard SemiBold"/>
                <a:ea typeface="Pretendard SemiBold"/>
              </a:rPr>
              <a:t>선물 인도가격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8328" y="329184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Adjusted Delivery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8328" y="3703320"/>
            <a:ext cx="29870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전환계수로 조정된 선물 인도가격을 산출한다. 이 값이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IRR 계산의 기준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 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8288" y="2011680"/>
            <a:ext cx="35356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12608" y="228600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C00000"/>
                </a:solidFill>
                <a:latin typeface="Pretendard SemiBold"/>
                <a:ea typeface="Pretendard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2608" y="2697480"/>
            <a:ext cx="2987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600" b="1" i="0" spc="-26">
                <a:solidFill>
                  <a:srgbClr val="122B46"/>
                </a:solidFill>
                <a:latin typeface="Pretendard SemiBold"/>
                <a:ea typeface="Pretendard SemiBold"/>
              </a:rPr>
              <a:t>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2608" y="329184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Internal Rate of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2608" y="3703320"/>
            <a:ext cx="29870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미래 수익을 현재 투자금으로 할인할 때의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할인율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. 바스켓 중 IRR이 최대인 채권이 CTD가 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" y="53492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Pretendard SemiBold"/>
                <a:ea typeface="Pretendard SemiBold"/>
              </a:rPr>
              <a:t>⟶  </a:t>
            </a:r>
            <a:r>
              <a:rPr sz="1800" b="1" i="0" spc="-18">
                <a:solidFill>
                  <a:srgbClr val="122B46"/>
                </a:solidFill>
                <a:latin typeface="Pretendard ExtraBold"/>
                <a:ea typeface="Pretendard ExtraBold"/>
              </a:rPr>
              <a:t>IRR 최대 ⇒  CTD 채권 </a:t>
            </a:r>
            <a:r>
              <a:rPr sz="1400" b="0" i="0">
                <a:solidFill>
                  <a:srgbClr val="7A7A7A"/>
                </a:solidFill>
                <a:latin typeface="Pretendard"/>
                <a:ea typeface="Pretendard"/>
              </a:rPr>
              <a:t>(Cheapest-to-Deliver Bond)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06. CTD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7A7A7A"/>
                </a:solidFill>
                <a:latin typeface="Pretendard SemiBold"/>
                <a:ea typeface="Pretendard SemiBold"/>
              </a:rPr>
              <a:t>Example  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KTB3F2512  ·  바스켓 채권 3종 가운데 </a:t>
            </a:r>
            <a:r>
              <a:rPr sz="2000" b="1" i="0">
                <a:solidFill>
                  <a:srgbClr val="C00000"/>
                </a:solidFill>
                <a:latin typeface="Pretendard SemiBold"/>
                <a:ea typeface="Pretendard SemiBold"/>
              </a:rPr>
              <a:t>24-12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 IRR 최대로 CTD에 선정되었다고 가정.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1920240"/>
            <a:ext cx="57607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4048" y="21945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51460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400" b="1" i="0" spc="-24">
                <a:solidFill>
                  <a:srgbClr val="122B46"/>
                </a:solidFill>
                <a:latin typeface="Pretendard SemiBold"/>
                <a:ea typeface="Pretendard SemiBold"/>
              </a:rPr>
              <a:t>24-12 단독 매매</a:t>
            </a:r>
          </a:p>
        </p:txBody>
      </p:sp>
      <p:sp>
        <p:nvSpPr>
          <p:cNvPr id="8" name="Oval 7"/>
          <p:cNvSpPr/>
          <p:nvPr/>
        </p:nvSpPr>
        <p:spPr>
          <a:xfrm>
            <a:off x="402336" y="3337560"/>
            <a:ext cx="91440" cy="91440"/>
          </a:xfrm>
          <a:prstGeom prst="ellipse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246120"/>
            <a:ext cx="4983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CTD 외 종목까지 매수하면 자금 조달비용·대차 수수료가 가산되어 진입 비용이 늘어난다.</a:t>
            </a:r>
          </a:p>
        </p:txBody>
      </p:sp>
      <p:sp>
        <p:nvSpPr>
          <p:cNvPr id="10" name="Oval 9"/>
          <p:cNvSpPr/>
          <p:nvPr/>
        </p:nvSpPr>
        <p:spPr>
          <a:xfrm>
            <a:off x="402336" y="4206240"/>
            <a:ext cx="91440" cy="914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114800"/>
            <a:ext cx="4983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따라서 24-12만으로 선물 헷징을 구성해 비용을 최소화한다.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" y="5074920"/>
            <a:ext cx="91440" cy="91440"/>
          </a:xfrm>
          <a:prstGeom prst="ellipse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983480"/>
            <a:ext cx="4983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이론적으로 단일 종목 헷징은 완전하지 않으나, 시장가가 CTD 변동에 가중되어 움직이는 경향성이 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0240"/>
            <a:ext cx="5029200" cy="36118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3368" y="2148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C00000"/>
                </a:solidFill>
                <a:latin typeface="Pretendard SemiBold"/>
                <a:ea typeface="Pretendard SemiBold"/>
              </a:rPr>
              <a:t>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87168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Q.  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단일 채권으로 모든 바스켓의 가격을 반영하는 선물을 </a:t>
            </a:r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정확히 헷징할 수 있나?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703320"/>
            <a:ext cx="45720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A.  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이론적으로는 어렵다. 그러나 실무에서는 다수의 참여자가 CTD 전략을 사용하며, </a:t>
            </a:r>
            <a:r>
              <a:rPr sz="1500" b="1" i="0">
                <a:solidFill>
                  <a:srgbClr val="122B46"/>
                </a:solidFill>
                <a:latin typeface="Pretendard SemiBold"/>
                <a:ea typeface="Pretendard SemiBold"/>
              </a:rPr>
              <a:t>선물 시장가가 CTD의 가격 변동에 가중되어 움직이는 경향</a:t>
            </a: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 짙어, 완전 헷징은 아니더라도 실무적으로 충분히 유효한 헷징이 성립한다.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07. Threshold &amp;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포지션 진입의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Threshold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  —  얼마만큼의 베이시스 괴리가 나야 진입할 것인가  —  를 정하기 위해서는 </a:t>
            </a:r>
            <a:r>
              <a:rPr sz="2000" b="1" i="0">
                <a:solidFill>
                  <a:srgbClr val="C00000"/>
                </a:solidFill>
                <a:latin typeface="Pretendard SemiBold"/>
                <a:ea typeface="Pretendard SemiBold"/>
              </a:rPr>
              <a:t>포지션 구축 비용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을 먼저 정량화해야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2240280"/>
            <a:ext cx="539495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4048" y="2514600"/>
            <a:ext cx="1097280" cy="329184"/>
          </a:xfrm>
          <a:prstGeom prst="roundRect">
            <a:avLst>
              <a:gd name="adj" fmla="val 5000"/>
            </a:avLst>
          </a:prstGeom>
          <a:solidFill>
            <a:srgbClr val="12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251460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 SemiBold"/>
                <a:ea typeface="Pretendard SemiBold"/>
              </a:rPr>
              <a:t>01 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95351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400" b="1" i="0" spc="-24">
                <a:solidFill>
                  <a:srgbClr val="122B46"/>
                </a:solidFill>
                <a:latin typeface="Pretendard SemiBold"/>
                <a:ea typeface="Pretendard SemiBold"/>
              </a:rPr>
              <a:t>Slippage  슬리피지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566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원하는 호가에 응해주는 상대가 없어 발생하는 손해 비용. 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한국 국채시장 발표 자료에 근거하여 추정값을 결정한다.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846320"/>
            <a:ext cx="48463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1208" y="4892040"/>
            <a:ext cx="457199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22B46"/>
                </a:solidFill>
                <a:latin typeface="Pretendard SemiBold"/>
                <a:ea typeface="Pretendard SemiBold"/>
              </a:rPr>
              <a:t>Source  </a:t>
            </a:r>
            <a:r>
              <a:rPr sz="1100" b="0" i="0">
                <a:solidFill>
                  <a:srgbClr val="122B46"/>
                </a:solidFill>
                <a:latin typeface="Pretendard"/>
                <a:ea typeface="Pretendard"/>
              </a:rPr>
              <a:t>한국 국채시장 발표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7" y="2240280"/>
            <a:ext cx="539495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53327" y="2514600"/>
            <a:ext cx="1097280" cy="329184"/>
          </a:xfrm>
          <a:prstGeom prst="roundRect">
            <a:avLst>
              <a:gd name="adj" fmla="val 5000"/>
            </a:avLst>
          </a:prstGeom>
          <a:solidFill>
            <a:srgbClr val="12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53327" y="251460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 SemiBold"/>
                <a:ea typeface="Pretendard SemiBold"/>
              </a:rPr>
              <a:t>02 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7" y="295351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400" b="1" i="0" spc="-24">
                <a:solidFill>
                  <a:srgbClr val="122B46"/>
                </a:solidFill>
                <a:latin typeface="Pretendard SemiBold"/>
                <a:ea typeface="Pretendard SemiBold"/>
              </a:rPr>
              <a:t>Trading Fees  거래 수수료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7" y="3611880"/>
            <a:ext cx="2377440" cy="7315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90488" y="3685032"/>
            <a:ext cx="224027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7A7A7A"/>
                </a:solidFill>
                <a:latin typeface="Pretendard SemiBold"/>
                <a:ea typeface="Pretendard SemiBold"/>
              </a:rPr>
              <a:t>장내  Exchange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977640"/>
            <a:ext cx="224027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수수료 매우 미미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3611880"/>
            <a:ext cx="2377440" cy="731520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59368" y="3685032"/>
            <a:ext cx="224027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7A7A7A"/>
                </a:solidFill>
                <a:latin typeface="Pretendard SemiBold"/>
                <a:ea typeface="Pretendard SemiBold"/>
              </a:rPr>
              <a:t>장외  OTC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977640"/>
            <a:ext cx="224027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C00000"/>
                </a:solidFill>
                <a:latin typeface="Pretendard SemiBold"/>
                <a:ea typeface="Pretendard SemiBold"/>
              </a:rPr>
              <a:t>세일즈 수수료 존재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7" y="48463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국고채는 장내 거래가 활발해 장내 / 장외를 구분해 비용을 산정한다.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08. Funding Cost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91440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포지션 비용의 핵심은 </a:t>
            </a:r>
            <a:r>
              <a:rPr sz="2000" b="1" i="0">
                <a:solidFill>
                  <a:srgbClr val="C00000"/>
                </a:solidFill>
                <a:latin typeface="Pretendard SemiBold"/>
                <a:ea typeface="Pretendard SemiBold"/>
              </a:rPr>
              <a:t>자금 조달비용</a:t>
            </a:r>
            <a:r>
              <a:rPr sz="20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이다. 매수차익거래와 매도차익거래에서 비용이 비대칭이며, </a:t>
            </a:r>
            <a:r>
              <a:rPr sz="2000" b="1" i="0">
                <a:solidFill>
                  <a:srgbClr val="122B46"/>
                </a:solidFill>
                <a:latin typeface="Pretendard SemiBold"/>
                <a:ea typeface="Pretendard SemiBold"/>
              </a:rPr>
              <a:t>매도차익거래가 더 비싸다.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2331720"/>
            <a:ext cx="539495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4048" y="2606039"/>
            <a:ext cx="1417320" cy="329184"/>
          </a:xfrm>
          <a:prstGeom prst="roundRect">
            <a:avLst>
              <a:gd name="adj" fmla="val 5000"/>
            </a:avLst>
          </a:prstGeom>
          <a:solidFill>
            <a:srgbClr val="12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2606039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</a:rPr>
              <a:t>LONG 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04495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200" b="1" i="0" spc="-22">
                <a:solidFill>
                  <a:srgbClr val="122B46"/>
                </a:solidFill>
                <a:latin typeface="Pretendard SemiBold"/>
                <a:ea typeface="Pretendard SemiBold"/>
              </a:rPr>
              <a:t>매수차익거래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611879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122B46"/>
                </a:solidFill>
                <a:latin typeface="Pretendard ExtraBold"/>
                <a:ea typeface="Pretendard ExtraBold"/>
              </a:rPr>
              <a:t>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348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funding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84632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현물을 매수하므로 자기자금 또는 일반 차입으로 조달하면 충분하다.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7" y="2331720"/>
            <a:ext cx="5394959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53327" y="2606039"/>
            <a:ext cx="1508760" cy="329184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53327" y="2606039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 SemiBold"/>
                <a:ea typeface="Pretendard SemiBold"/>
              </a:rPr>
              <a:t>SHORT 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7" y="304495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200" b="1" i="0" spc="-22">
                <a:solidFill>
                  <a:srgbClr val="122B46"/>
                </a:solidFill>
                <a:latin typeface="Pretendard SemiBold"/>
                <a:ea typeface="Pretendard SemiBold"/>
              </a:rPr>
              <a:t>매도차익거래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3611879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C00000"/>
                </a:solidFill>
                <a:latin typeface="Pretendard ExtraBold"/>
                <a:ea typeface="Pretendard ExtraBold"/>
              </a:rPr>
              <a:t>Higher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7" y="44348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funding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7" y="484632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현물 매도를 위해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예탁원에서 채권을 차입</a:t>
            </a:r>
            <a:r>
              <a:rPr sz="1400" b="1" i="0">
                <a:solidFill>
                  <a:srgbClr val="C00000"/>
                </a:solidFill>
                <a:latin typeface="Pretendard SemiBold"/>
                <a:ea typeface="Pretendard SemiBold"/>
              </a:rPr>
              <a:t>  →  </a:t>
            </a:r>
            <a:r>
              <a:rPr sz="1400" b="1" i="0">
                <a:solidFill>
                  <a:srgbClr val="C00000"/>
                </a:solidFill>
                <a:latin typeface="Pretendard SemiBold"/>
                <a:ea typeface="Pretendard SemiBold"/>
              </a:rPr>
              <a:t>대차수수료가 추가 발생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566928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Pretendard SemiBold"/>
                <a:ea typeface="Pretendard SemiBold"/>
              </a:rPr>
              <a:t>⟶  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매도차익거래 진입에는 매수차익거래보다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더 큰 베이시스 괴리(Threshold)</a:t>
            </a:r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가 요구된다.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-384048"/>
            <a:ext cx="2075688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" y="82296"/>
            <a:ext cx="9509760" cy="704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4000" b="1" i="0" spc="-40">
                <a:solidFill>
                  <a:srgbClr val="122B46"/>
                </a:solidFill>
                <a:latin typeface="Pretendard SemiBold"/>
                <a:ea typeface="Pretendard SemiBold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16459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2103120"/>
            <a:ext cx="3535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8328" y="2331720"/>
            <a:ext cx="307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22B46"/>
                </a:solidFill>
                <a:latin typeface="Pretendard SemiBold"/>
                <a:ea typeface="Pretendard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651760"/>
            <a:ext cx="307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1" i="0" spc="-20">
                <a:solidFill>
                  <a:srgbClr val="122B46"/>
                </a:solidFill>
                <a:latin typeface="Pretendard SemiBold"/>
                <a:ea typeface="Pretendard SemiBold"/>
              </a:rPr>
              <a:t>Hedge with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3200400"/>
            <a:ext cx="307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선물의 반대 포지션을 듀레이션 환산 수량으로 잡아 가격 변동을 상쇄.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4008" y="2103120"/>
            <a:ext cx="3535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02608" y="2331720"/>
            <a:ext cx="307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22B46"/>
                </a:solidFill>
                <a:latin typeface="Pretendard SemiBold"/>
                <a:ea typeface="Pretendard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2608" y="2651760"/>
            <a:ext cx="307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1" i="0" spc="-20">
                <a:solidFill>
                  <a:srgbClr val="122B46"/>
                </a:solidFill>
                <a:latin typeface="Pretendard SemiBold"/>
                <a:ea typeface="Pretendard SemiBold"/>
              </a:rPr>
              <a:t>Pick the CTD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2608" y="3200400"/>
            <a:ext cx="307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IRR 최대 채권 1개로 헷징해 자금 조달비용을 최소화.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8288" y="2103120"/>
            <a:ext cx="3535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6888" y="2331720"/>
            <a:ext cx="307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C00000"/>
                </a:solidFill>
                <a:latin typeface="Pretendard SemiBold"/>
                <a:ea typeface="Pretendard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6888" y="2651760"/>
            <a:ext cx="307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2000" b="1" i="0" spc="-20">
                <a:solidFill>
                  <a:srgbClr val="122B46"/>
                </a:solidFill>
                <a:latin typeface="Pretendard SemiBold"/>
                <a:ea typeface="Pretendard SemiBold"/>
              </a:rPr>
              <a:t>Cross the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6888" y="3200400"/>
            <a:ext cx="307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Pretendard ExtraLight"/>
                <a:ea typeface="Pretendard ExtraLight"/>
              </a:rPr>
              <a:t>슬리피지·수수료·자금조달비용을 합한 비용을 넘는 괴리에서만 진입.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61772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4000" b="1" i="0" spc="-80">
                <a:solidFill>
                  <a:srgbClr val="122B46"/>
                </a:solidFill>
                <a:latin typeface="Pretendard ExtraBold"/>
                <a:ea typeface="Pretendard ExtraBold"/>
              </a:rPr>
              <a:t>Q &amp;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53492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7A7A7A"/>
                </a:solidFill>
                <a:latin typeface="Pretendard SemiBold"/>
                <a:ea typeface="Pretendard SemiBold"/>
              </a:rPr>
              <a:t>Presenter   </a:t>
            </a:r>
            <a:r>
              <a:rPr sz="1400" b="1" i="0">
                <a:solidFill>
                  <a:srgbClr val="122B46"/>
                </a:solidFill>
                <a:latin typeface="Pretendard SemiBold"/>
                <a:ea typeface="Pretendard SemiBold"/>
              </a:rPr>
              <a:t>박상혁   </a:t>
            </a:r>
            <a:r>
              <a:rPr sz="12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Y-PJ-FoRM 39th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